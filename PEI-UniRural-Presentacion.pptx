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9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Educativo Institucional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Institución Universitaria de Educación Rural - UniRural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54864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Carácter Académico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2034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vigilado Mineducación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Presentación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9319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188720"/>
            <a:ext cx="73152" cy="91440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Institucional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39319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1188720"/>
            <a:ext cx="73152" cy="91440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1208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y Lineamientos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39319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377440"/>
            <a:ext cx="73152" cy="91440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728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del Cambio de Carácter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0" y="2377440"/>
            <a:ext cx="39319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2377440"/>
            <a:ext cx="73152" cy="91440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1208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Académica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39319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9728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Académica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0" y="3566160"/>
            <a:ext cx="39319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3566160"/>
            <a:ext cx="73152" cy="91440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21208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Gestión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Trayectoria Histórica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años formando el campo colombiano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1280160" cy="54864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81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20240" y="1371600"/>
            <a:ext cx="66751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1508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mediante Decreto 2365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1280160" cy="54864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128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20240" y="2103120"/>
            <a:ext cx="66751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03120" y="2240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Reconocimiento como 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1280160" cy="54864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443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1988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920240" y="2834640"/>
            <a:ext cx="66751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0" y="2971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1280160" cy="54864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758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920240" y="3566160"/>
            <a:ext cx="66751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0312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Vinculación Departamental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1280160" cy="54864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4074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920240" y="4297680"/>
            <a:ext cx="66751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103120" y="4434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Carácter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Naturaleza Jurídica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Ley 2365 de 1956 - Plantel Piloto Nacional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73152" cy="100584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Establecimiento público departamental adscrito a Norte de Santander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73152" cy="100584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carácter conforme al Decreto 2038 de 2023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Símbolos Institucionales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Bandera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77724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3560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Blanco: Cúspide de los sueños y metas, igualdad, responsabilidad y paz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77724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Verde: Frescor de la naturaleza y desarrollo humano, símbolo de vida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777240"/>
          </a:xfrm>
          <a:prstGeom prst="roundRect">
            <a:avLst/>
          </a:prstGeom>
          <a:solidFill>
            <a:srgbClr val="FCBD0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6440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Amarillo: Inteligencia, creatividad y riqueza de espíritu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777240"/>
          </a:xfrm>
          <a:prstGeom prst="roundRect">
            <a:avLst/>
          </a:prstGeom>
          <a:solidFill>
            <a:srgbClr val="EB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7880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Rojo: Justicia e igualdad social, ardor juvenil y entusiasmo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Escudo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círculo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783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Perfección, globalización y dinamismo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9728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Hombre en el átomo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 humano como ser pensante, activo y central en el saber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Semicírculo con espigas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histórico con la educación rural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01752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Semicírculo superior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ámbito de acción territorial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9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Misión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2926080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Formar Personas Integrales, competentes y socialmente responsables, con capacidad de generar y adaptar conocimientos, conservar y reinterpretar la cultura y participar activamente en el desarrollo armónico de la comunidad, privilegiando el sector rural y las poblaciones vulnerables, orientados desde la docencia, la investigación, la extensión y el bienestar institucional.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9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Visión 2034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2743200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año 2034, La Institución Universitaria de Educación Rural - UniRural será reconocida en el oriente colombiano como una institución acreditada, incluyente y líder en la formación técnica, tecnológica y profesional, con un enfoque del desarrollo humano que apuesta por la ruralidad.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Institucionales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92024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Autonomía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06040" y="1097280"/>
            <a:ext cx="192024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2024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Pertinencia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192024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0372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192024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Equidad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06040" y="3017520"/>
            <a:ext cx="192024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606040" y="4069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Sostenibilidad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017520"/>
            <a:ext cx="192024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754880" y="4069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Libertad Académica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03720" y="3017520"/>
            <a:ext cx="192024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⭐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903720" y="4069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Identidad Rural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Sello Diferenciador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38988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41732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444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Comunidades rurales como expresiones de vida, cultura y desarrollo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16712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19456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221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humano como fundamento conceptual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94436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7180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9992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territorio-naturaleza como sujeto activo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72160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749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7764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Prácticas de convivencia democrática y participativa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449884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52628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5537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equidad, justicia, género y sustentabilidad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Territorial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Centros de Atención Tutorial en 6 departamentos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2651760" cy="164592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Norte de Santander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 de Atención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280160"/>
            <a:ext cx="2651760" cy="164592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Santander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291840" y="2514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 de Atención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164592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Arauca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126480" y="2514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 de Atención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2651760" cy="164592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Bolívar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 de Atención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154680"/>
            <a:ext cx="2651760" cy="164592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329184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 de Atención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154680"/>
            <a:ext cx="2651760" cy="164592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Magdalena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612648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 de Atención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9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 Filosófico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926080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Humano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ampliación de las capacidades de las personas, ubicándolas en el centro del desarrollo con capacidad de agencia para transformarse y transformar su entorno.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Basado en Amartya Sen y Martha Nussbaum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Formación Integral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como ser multidimensional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Intelectual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Afectiva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265176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017520"/>
            <a:ext cx="265176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17520"/>
            <a:ext cx="265176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Estética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por Competencias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931920" cy="155448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4173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Ser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ética y actitudinal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3931920" cy="155448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4173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Hacer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procedimental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31920" cy="155448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Conocer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cognitiva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3017520"/>
            <a:ext cx="3931920" cy="155448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Estar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3931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relacional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Pensamiento Pedagógico Socio-Crítico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11556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14300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1704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del conocimiento a problemáticas reales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189280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9202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1947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conciencia crítica y reflexiva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67004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9748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7249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Conducción autónoma del criterio propio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44728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7472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5021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Formación de personas libres y autónomas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22452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25196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2793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cooperativo y colaborativo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Modalidades de Formación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05840"/>
            <a:ext cx="73152" cy="658368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106424"/>
            <a:ext cx="1737360" cy="45720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15214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1188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Interacción directa en espacios físicos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181051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810512"/>
            <a:ext cx="73152" cy="658368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911096"/>
            <a:ext cx="1737360" cy="45720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95681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19933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en entornos digitales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1518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15184"/>
            <a:ext cx="73152" cy="658368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715768"/>
            <a:ext cx="1737360" cy="45720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761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Distancia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279806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Mediada con encuentros periódicos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19856"/>
            <a:ext cx="73152" cy="658368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520440"/>
            <a:ext cx="1737360" cy="45720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360273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 academia y práctica empresarial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224528"/>
            <a:ext cx="73152" cy="658368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325112"/>
            <a:ext cx="1737360" cy="45720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370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60320" y="44074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Combinación flexible de modalidades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9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Regional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Norte de Santander y zona de influencia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08760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Municipios PDET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3931920" cy="1508760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544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Población Rural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931920" cy="1508760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ES Rural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3154680"/>
            <a:ext cx="3931920" cy="1508760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3375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7200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Brechas en Educación Superior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0584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09728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161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cobertura en zonas rurales dispersas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1892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concentrada en ciudades capitales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56032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2624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trayectorias educativas completas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20040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33558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programas profesionales en territorios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93192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4087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Dificultades de acceso y permanencia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Institucionales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Física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4904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15361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cupos en residencias estudiantiles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4904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74920" y="15361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capacidad en comedor institucional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7249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2770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Laboratorios especializados modernos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468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7249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74920" y="2770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Granja La Rinconada y Hacienda La Caldera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9593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60120" y="40050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solar en instalaciones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70332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9593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74920" y="40050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ISO 9001:2015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Académica Vigente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programas activos con Registro Calificado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1691640"/>
          </a:xfrm>
          <a:prstGeom prst="round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Ciencias Administrativas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1344168"/>
            <a:ext cx="2011680" cy="45720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Programas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828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167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Empresarial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1965960"/>
            <a:ext cx="1828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2167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Comunitaria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965960"/>
            <a:ext cx="1828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2167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Mercadeo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1965960"/>
            <a:ext cx="1828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2167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8229600" cy="1691640"/>
          </a:xfrm>
          <a:prstGeom prst="roundRect">
            <a:avLst/>
          </a:pr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46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Ingenierías e Informática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0" y="3218688"/>
            <a:ext cx="2011680" cy="457200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264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Programas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840480"/>
            <a:ext cx="1828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0416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Agroindustria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06040" y="3840480"/>
            <a:ext cx="1828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06040" y="40416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Industrial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840480"/>
            <a:ext cx="1828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0" y="40416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3840480"/>
            <a:ext cx="1828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37960" y="40416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Civiles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03920" y="3840480"/>
            <a:ext cx="1828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503920" y="40416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Agropecuaria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Trayectoria en Investigación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de Investigación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3840480" cy="1143000"/>
          </a:xfrm>
          <a:prstGeom prst="roundRect">
            <a:avLst/>
          </a:prstGeom>
          <a:solidFill>
            <a:srgbClr val="5894E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GICTIN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 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029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280160"/>
            <a:ext cx="3840480" cy="1143000"/>
          </a:xfrm>
          <a:prstGeom prst="roundRect">
            <a:avLst/>
          </a:prstGeom>
          <a:solidFill>
            <a:srgbClr val="5894E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GIESD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 Reconocido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029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Ciencias Admin.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Recientes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384048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017520"/>
            <a:ext cx="73152" cy="54864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6 profesores clasificados MinCiencias 2024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017520"/>
            <a:ext cx="384048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3017520"/>
            <a:ext cx="73152" cy="54864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Proyecto SGR implementado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384048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703320"/>
            <a:ext cx="73152" cy="54864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Semilleros activos de investigación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703320"/>
            <a:ext cx="384048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3703320"/>
            <a:ext cx="73152" cy="54864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Eventos académicos nacionales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Extensión y Proyección Social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Prestadora de Servicios de Extensión Agropecuaria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38988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41732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444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Habilitación EPSEA vigente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16712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19456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221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Asistencia técnica a productores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94436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7180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9992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Consultoría y asesoría empresarial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72160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749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7764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Convenios con sector productivo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4498848"/>
            <a:ext cx="420624" cy="420624"/>
          </a:xfrm>
          <a:prstGeom prst="ellipse">
            <a:avLst/>
          </a:prstGeom>
          <a:solidFill>
            <a:srgbClr val="1B9E88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52628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5537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Articulación con SNIA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89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Articulación con ODS 2030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246888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 de Calidad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76272" y="1371600"/>
            <a:ext cx="1554480" cy="246888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76272" y="1554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176272" y="2697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Decente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95344" y="1371600"/>
            <a:ext cx="1554480" cy="246888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1554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895344" y="2697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Desigualdades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14416" y="1371600"/>
            <a:ext cx="1554480" cy="246888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14416" y="1554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614416" y="2697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Ciudades Sostenibles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33488" y="1371600"/>
            <a:ext cx="1554480" cy="246888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1554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333488" y="2697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Responsable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Decreto 2038/2023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para Cambio de Carácter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62179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399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Reglamentos actualizados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0" y="1399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Cumple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8229600" cy="62179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de interacción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Cumple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34056"/>
            <a:ext cx="8229600" cy="62179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8986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Desarrollo vigente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28986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Cumple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83864"/>
            <a:ext cx="8229600" cy="62179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64845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verificadas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36484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Cumple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8229600" cy="62179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3982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con RC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26480" y="43982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11 activos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Gobierno Académico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77724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51560"/>
            <a:ext cx="73152" cy="5303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95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Consejo Directivo - Máxima autoridad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709928"/>
            <a:ext cx="7452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1709928"/>
            <a:ext cx="73152" cy="5303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18379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Consejo Académico - Autoridad académica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2368296"/>
            <a:ext cx="7132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2368296"/>
            <a:ext cx="73152" cy="5303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24963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Rectoría - Dirección ejecutiva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417320" y="3026664"/>
            <a:ext cx="68122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17320" y="3026664"/>
            <a:ext cx="73152" cy="5303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Vicerrectorías - Gestión misional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737360" y="3685032"/>
            <a:ext cx="64922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737360" y="3685032"/>
            <a:ext cx="73152" cy="5303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3" name="Text 21"/>
          <p:cNvSpPr/>
          <p:nvPr/>
        </p:nvSpPr>
        <p:spPr>
          <a:xfrm>
            <a:off x="1920240" y="3813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Facultades - Unidades académicas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57400" y="4343400"/>
            <a:ext cx="6172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57400" y="4343400"/>
            <a:ext cx="73152" cy="5303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6" name="Text 24"/>
          <p:cNvSpPr/>
          <p:nvPr/>
        </p:nvSpPr>
        <p:spPr>
          <a:xfrm>
            <a:off x="2240280" y="44714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- Gestión operativa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Facultades Actuales y Proyectadas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Facultades Actuales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530352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447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Ciencias Administrativas y Sociales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8229600" cy="530352"/>
          </a:xfrm>
          <a:prstGeom prst="roundRect">
            <a:avLst/>
          </a:prstGeom>
          <a:solidFill>
            <a:srgbClr val="1B9E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Ingenierías e Informática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Facultades Proyectadas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530352"/>
          </a:xfrm>
          <a:prstGeom prst="roundRect">
            <a:avLst/>
          </a:prstGeom>
          <a:solidFill>
            <a:srgbClr val="5894E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19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Ciencias Básicas y Educación (proyectada)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de Oferta Académica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en trámite de Registro Calificado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530352"/>
          </a:xfrm>
          <a:prstGeom prst="roundRect">
            <a:avLst/>
          </a:prstGeom>
          <a:solidFill>
            <a:srgbClr val="5894E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07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Ingeniería en Ciencia de Datos - Virtual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8229600" cy="530352"/>
          </a:xfrm>
          <a:prstGeom prst="roundRect">
            <a:avLst/>
          </a:prstGeom>
          <a:solidFill>
            <a:srgbClr val="5894E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Trabajo Social y Comunitario - Virtual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00" cy="530352"/>
          </a:xfrm>
          <a:prstGeom prst="roundRect">
            <a:avLst/>
          </a:prstGeom>
          <a:solidFill>
            <a:srgbClr val="5894E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243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Bioingeniería - Presencial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de Expansión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265176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13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Profesionales Universitarios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794760"/>
            <a:ext cx="265176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913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Especializaciones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794760"/>
            <a:ext cx="265176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9E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913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Maestrías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589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Investigación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investigación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18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Bioeconomía y desarrollo sostenible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32588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618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Cadenas productivas agroindustriales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Transición energética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56032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8529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Digitalización y tecnologías emergentes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87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Adaptación al cambio climático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79476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087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Desarrollo humano rural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Extensión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05840"/>
            <a:ext cx="73152" cy="658368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Académica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 continuada, diplomados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10512"/>
            <a:ext cx="822960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10512"/>
            <a:ext cx="73152" cy="658368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751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19933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solidarios, desarrollo comunitario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15184"/>
            <a:ext cx="822960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15184"/>
            <a:ext cx="73152" cy="658368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797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Económica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6080" y="27980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Consultoría, asesoría, asistencia técnica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822960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19856"/>
            <a:ext cx="73152" cy="658368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844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Graduados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26080" y="36027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y vinculación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24528"/>
            <a:ext cx="73152" cy="658368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Internacional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926080" y="44074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Movilidad, convenios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589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de Experiencias y Organización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de formación multimodal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21792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35608"/>
            <a:ext cx="402336" cy="402336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53896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4904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tecnológica y contenidos digitales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8229600" cy="621792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85416"/>
            <a:ext cx="402336" cy="402336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03704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Acompañamiento pedagógico docente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8229600" cy="621792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35224"/>
            <a:ext cx="402336" cy="402336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53512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9900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técnico-operativo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75304"/>
            <a:ext cx="8229600" cy="621792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85032"/>
            <a:ext cx="402336" cy="402336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7398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a bienestar digital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25112"/>
            <a:ext cx="8229600" cy="621792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34840"/>
            <a:ext cx="402336" cy="402336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5312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48970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del ecosistema virtual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Estudiante Iserista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5156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Responsabilidad y autoconfianza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05156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Resolución de problemas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05740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13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Habilidades comunicativas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0574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05740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313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Uso competente de TIC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6324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19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Pensamiento crítico y flexible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30632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06324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319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Trabajo en equipo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14600" y="40690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406908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4325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Iniciativa y creatividad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Docente UniRural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5156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Facilitador del aprendizaje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05156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Diseñador curricular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05740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13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Acompañante y orientador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0574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05740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313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Investigador y extensionista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6324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19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Actualización permanente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30632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063240"/>
            <a:ext cx="73152" cy="822960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319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Compromiso con el desarrollo rural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Bienestar Institucional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93192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0584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integral y hábitos saludables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393192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100584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98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Orientación educativa y tutorías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01168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04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para la vida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011680"/>
            <a:ext cx="393192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201168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304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Permanencia e inclusión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393192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01752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10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Promoción socioeconómica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3017520"/>
            <a:ext cx="393192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01752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310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Artes y cultura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14600" y="4023360"/>
            <a:ext cx="393192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Shape 26"/>
          <p:cNvSpPr/>
          <p:nvPr/>
        </p:nvSpPr>
        <p:spPr>
          <a:xfrm>
            <a:off x="2514600" y="4023360"/>
            <a:ext cx="3931920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4315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Bienestar social laboral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589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Internacionalización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05156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36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Alianzas con instituciones globales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3931920" cy="105156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536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Movilidad académica entrante y saliente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931920" cy="105156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16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Contenidos multiculturales en currículo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468880"/>
            <a:ext cx="3931920" cy="105156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816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Redes académicas internacionales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3931920" cy="105156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96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Diplomacia científica y cooperación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749040"/>
            <a:ext cx="3931920" cy="105156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096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Recursos multilingües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Gestión y Calidad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3931920" cy="105156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3990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Trabajo por procesos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3931920" cy="105156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3990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Ciclos de mejora continua (PHVA)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3931920" cy="105156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679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Toma de decisiones basada en datos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331720"/>
            <a:ext cx="3931920" cy="105156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679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Gestión del conocimiento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931920" cy="105156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9593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Sistema de calidad ISO 9001:2015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3611880"/>
            <a:ext cx="3931920" cy="1051560"/>
          </a:xfrm>
          <a:prstGeom prst="roundRect">
            <a:avLst/>
          </a:prstGeom>
          <a:solidFill>
            <a:srgbClr val="1B9E88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9593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Transparencia y rendición de cuentas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9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Nuestros Compromisos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66928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Acceso, permanencia y graduación con calidad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66928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1051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8745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 y rendición de cuentas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566928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9631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5603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Participación de toda la comunidad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566928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8211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461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Equidad territorial y poblacional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66928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6791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319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Sostenibilidad ambiental y financiera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566928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FCBD0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5371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617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Formación integral para el desarrollo rural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4920"/>
            <a:ext cx="3044952" cy="73152"/>
          </a:xfrm>
          <a:prstGeom prst="rect">
            <a:avLst/>
          </a:prstGeom>
          <a:solidFill>
            <a:srgbClr val="1B9E88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5074920"/>
            <a:ext cx="3054096" cy="73152"/>
          </a:xfrm>
          <a:prstGeom prst="rect">
            <a:avLst/>
          </a:prstGeom>
          <a:solidFill>
            <a:srgbClr val="FCBD05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48" y="5074920"/>
            <a:ext cx="3044952" cy="73152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del Cambio de Carácter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0584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09728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161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oferta de programas profesionales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1892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Fortalecer capacidades de investigación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56032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2624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cobertura territorial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20040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33558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Avanzar hacia la acreditación de alta calidad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93192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4087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programas de posgrado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663440"/>
            <a:ext cx="73152" cy="594360"/>
          </a:xfrm>
          <a:prstGeom prst="rect">
            <a:avLst/>
          </a:prstGeom>
          <a:solidFill>
            <a:srgbClr val="EB4335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4754880"/>
            <a:ext cx="411480" cy="411480"/>
          </a:xfrm>
          <a:prstGeom prst="ellipse">
            <a:avLst/>
          </a:prstGeom>
          <a:solidFill>
            <a:srgbClr val="EB433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754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88720" y="4818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Fortalecer vinculación con egresados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589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2034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institución universitaria acreditada, incluyente y líder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642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Acreditación institucional de alta calidad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6642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Oferta ampliada de programas profesionales y posgrados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98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Presencia consolidada en 6+ departamentos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60604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898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Grupos de investigación categoría 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33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Alianzas internacionales estratégicas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840480"/>
            <a:ext cx="3931920" cy="960120"/>
          </a:xfrm>
          <a:prstGeom prst="roundRect">
            <a:avLst/>
          </a:prstGeom>
          <a:solidFill>
            <a:srgbClr val="5894EF">
              <a:alpha val="6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133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Referente nacional en educación rural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9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CB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años formando el campo colombiano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Hacia una institución universitaria de excelencia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7315200" cy="1371600"/>
          </a:xfrm>
          <a:prstGeom prst="roundRect">
            <a:avLst/>
          </a:prstGeom>
          <a:solidFill>
            <a:srgbClr val="1B9E88">
              <a:alpha val="50000"/>
            </a:srgbClr>
          </a:solidFill>
          <a:ln w="25400">
            <a:solidFill>
              <a:srgbClr val="FCBD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860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desarrollo humano es el proceso de ampliación de las capacidades de las personas, ubicándolas en el centro con capacidad de agencia para transformarse y transformar su entorno."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Superior de Educación Rural - UniRural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vigilado Mineducación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🌱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Institución Universitaria de Educación Rural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Educativo Institucional - PEI</dc:title>
  <dc:subject>Cambio de Carácter Académico - Horizonte 2034</dc:subject>
  <dc:creator>ISER - UniRural</dc:creator>
  <cp:lastModifiedBy>ISER - UniRural</cp:lastModifiedBy>
  <cp:revision>1</cp:revision>
  <dcterms:created xsi:type="dcterms:W3CDTF">2025-12-15T14:06:20Z</dcterms:created>
  <dcterms:modified xsi:type="dcterms:W3CDTF">2025-12-15T14:06:20Z</dcterms:modified>
</cp:coreProperties>
</file>