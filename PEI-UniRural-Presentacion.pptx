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ER_TITLE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"/>
            <a:ext cx="3047695" cy="4572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91440"/>
            <a:ext cx="3048610" cy="45720"/>
          </a:xfrm>
          <a:prstGeom prst="rect">
            <a:avLst/>
          </a:prstGeom>
          <a:solidFill>
            <a:srgbClr val="FCBD05"/>
          </a:solidFill>
          <a:ln/>
        </p:spPr>
      </p:sp>
      <p:sp>
        <p:nvSpPr>
          <p:cNvPr id="5" name="Shape 3"/>
          <p:cNvSpPr/>
          <p:nvPr/>
        </p:nvSpPr>
        <p:spPr>
          <a:xfrm>
            <a:off x="6096305" y="91440"/>
            <a:ext cx="3047695" cy="45720"/>
          </a:xfrm>
          <a:prstGeom prst="rect">
            <a:avLst/>
          </a:prstGeom>
          <a:solidFill>
            <a:srgbClr val="EB4335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E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4572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8610" cy="45720"/>
          </a:xfrm>
          <a:prstGeom prst="rect">
            <a:avLst/>
          </a:prstGeom>
          <a:solidFill>
            <a:srgbClr val="FCBD05"/>
          </a:solidFill>
          <a:ln/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4572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040630"/>
            <a:ext cx="3047695" cy="4572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6" name="Shape 4"/>
          <p:cNvSpPr/>
          <p:nvPr/>
        </p:nvSpPr>
        <p:spPr>
          <a:xfrm>
            <a:off x="3047695" y="5040630"/>
            <a:ext cx="3048610" cy="45720"/>
          </a:xfrm>
          <a:prstGeom prst="rect">
            <a:avLst/>
          </a:prstGeom>
          <a:solidFill>
            <a:srgbClr val="FCBD05"/>
          </a:solidFill>
          <a:ln/>
        </p:spPr>
      </p:sp>
      <p:sp>
        <p:nvSpPr>
          <p:cNvPr id="7" name="Shape 5"/>
          <p:cNvSpPr/>
          <p:nvPr/>
        </p:nvSpPr>
        <p:spPr>
          <a:xfrm>
            <a:off x="6096305" y="5040630"/>
            <a:ext cx="3047695" cy="45720"/>
          </a:xfrm>
          <a:prstGeom prst="rect">
            <a:avLst/>
          </a:prstGeom>
          <a:solidFill>
            <a:srgbClr val="EB4335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Educativo Institucional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Institución Universitaria de Educación Rural - UniRural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0" y="3383280"/>
            <a:ext cx="2743200" cy="45720"/>
          </a:xfrm>
          <a:prstGeom prst="rect">
            <a:avLst/>
          </a:prstGeom>
          <a:solidFill>
            <a:srgbClr val="FCBD0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Carácter Académico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2034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vigilado Mineducación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de Presentación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Institucional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18872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39496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y Lineamientos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7744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del Cambio de Carácter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7744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94960" y="2651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Académica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56616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7280" y="3840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Académica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3566160"/>
            <a:ext cx="41148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356616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394960" y="3840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Gestión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Trayectoria Histórica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años formando el campo colombiano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88720" cy="548640"/>
          </a:xfrm>
          <a:prstGeom prst="roundRect">
            <a:avLst/>
          </a:prstGeom>
          <a:solidFill>
            <a:srgbClr val="1B9E88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813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1956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1371600"/>
            <a:ext cx="68580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0" y="14813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mediante Decreto 2365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88720" cy="548640"/>
          </a:xfrm>
          <a:prstGeom prst="roundRect">
            <a:avLst/>
          </a:prstGeom>
          <a:solidFill>
            <a:srgbClr val="1B9E88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5856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0" y="2148840"/>
            <a:ext cx="68580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11680" y="22585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 como 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1188720" cy="548640"/>
          </a:xfrm>
          <a:prstGeom prst="roundRect">
            <a:avLst/>
          </a:prstGeom>
          <a:solidFill>
            <a:srgbClr val="1B9E88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0358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1988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828800" y="2926080"/>
            <a:ext cx="68580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011680" y="303580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Instituto Tecnológico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1188720" cy="548640"/>
          </a:xfrm>
          <a:prstGeom prst="roundRect">
            <a:avLst/>
          </a:prstGeom>
          <a:solidFill>
            <a:srgbClr val="1B9E88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1304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2009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828800" y="3703320"/>
            <a:ext cx="68580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011680" y="381304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Vinculación Departamental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188720" cy="548640"/>
          </a:xfrm>
          <a:prstGeom prst="roundRect">
            <a:avLst/>
          </a:prstGeom>
          <a:solidFill>
            <a:srgbClr val="1B9E88"/>
          </a:solidFill>
          <a:ln w="12700">
            <a:solidFill>
              <a:srgbClr val="1B9E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59028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828800" y="4480560"/>
            <a:ext cx="68580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011680" y="459028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Carácter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Naturaleza Jurídica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0058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Decreto Ley 2365 de 1956 - Plantel Piloto Nacional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73152" cy="10058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Establecimiento público departamental adscrito a Norte de Santander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73152" cy="10058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carácter conforme al Decreto 2038 de 2023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Institucionales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Bandera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822960"/>
          </a:xfrm>
          <a:prstGeom prst="round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08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Blanco: Cúspide de los sueños y metas, igualdad, responsabilidad y paz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8229600" cy="82296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68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Frescor de la naturaleza y desarrollo humano, símbolo de vida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822960"/>
          </a:xfrm>
          <a:prstGeom prst="roundRect">
            <a:avLst/>
          </a:prstGeom>
          <a:solidFill>
            <a:srgbClr val="FCBD0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429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Amarillo: Inteligencia, creatividad y riqueza de espíritu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822960"/>
          </a:xfrm>
          <a:prstGeom prst="roundRect">
            <a:avLst/>
          </a:prstGeom>
          <a:solidFill>
            <a:srgbClr val="EB433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Rojo: Justicia e igualdad social, ardor juvenil y entusiasmo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Escudo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círculo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Perfección, globalización y dinamismo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0972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Hombre en el átomo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17373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 humano como ser pensante, activo y central en el saber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260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Semicírculo con espigas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histórico con la educación rural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29260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0" y="29260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Semicírculo superior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5661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y ámbito de acción territorial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Misión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8229600" cy="27432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Personas Integrales, competentes y socialmente responsables, con capacidad de generar y adaptar conocimientos, conservar y reinterpretar la cultura y participar activamente en el desarrollo armónico de la comunidad, privilegiando el sector rural y las poblaciones vulnerables, orientados desde la docencia, la investigación, la extensión y el bienestar institucional.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Visión 2034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8229600" cy="256032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año 2034, La Institución Universitaria de Educación Rural - UniRural será reconocida en el oriente colombiano como una institución acreditada, incluyente y líder en la formación técnica, tecnológica y profesional, con un enfoque del desarrollo humano que apuesta por la ruralidad.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Principios Institucionales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Autonomía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11887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1463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606040" y="2103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63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Pertinencia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03720" y="11887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1463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903720" y="2103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Inclusión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Equidad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30175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32918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606040" y="39319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Sostenibilidad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0175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2918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754880" y="39319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Académica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03720" y="3017520"/>
            <a:ext cx="1920240" cy="146304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32918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903720" y="39319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Identidad Rural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Sello Diferenciador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8988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444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Comunidades rurales como expresiones de vida, cultura y desarrollo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6712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945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2219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humano como fundamento conceptual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94436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718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9992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territorio-naturaleza como sujeto activo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72160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49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7764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Prácticas de convivencia democrática y participativa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49884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5537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de equidad, justicia, género y sustentabilidad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Territorial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Centros de Atención Tutorial en 6 departamentos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 de Santander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Santander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Arauca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17920" y="2423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Bolívar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703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4251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1089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337560" y="3291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37560" y="3703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337560" y="4251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108960"/>
            <a:ext cx="2651760" cy="155448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17920" y="3291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Magdalena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17920" y="3703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6217920" y="4251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Centros de Atención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 Filosófico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229600" cy="27432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Humano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ampliación de las capacidades de las personas, ubicándolas en el centro del desarrollo con capacidad de agencia para transformarse y transformar su entorno.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Basado en Amartya Sen y Martha Nussbaum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Integral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como ser multidimensional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459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Intelectual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37560" y="128016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6459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Afectiva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459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2608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337560" y="292608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37560" y="292608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8" name="Text 16"/>
          <p:cNvSpPr/>
          <p:nvPr/>
        </p:nvSpPr>
        <p:spPr>
          <a:xfrm>
            <a:off x="333756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2926080"/>
            <a:ext cx="2651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926080"/>
            <a:ext cx="265176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3291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Estética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por Competencias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4630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4630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Dimensión ética y actitudinal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3931920" cy="14630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0" y="14630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Hacer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0" y="20574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Dimensión procedimental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3931920" cy="14630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291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Conocer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Dimensión cognitiva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3017520"/>
            <a:ext cx="3931920" cy="14630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3291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Estar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0" y="3886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Dimensión relacional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Pensamiento Pedagógico Socio-Crítico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6187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del conocimiento a problemáticas reales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057400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de conciencia crítica y reflexiva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0779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Conducción autónoma del criterio propio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3075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de personas libres y autónomas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4526280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55371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cooperativo y colaborativo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Modalidades de Formación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164592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43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1704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Interacción directa en espacios físicos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8308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874520"/>
            <a:ext cx="164592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9476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Totalmente en entornos digitales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651760"/>
            <a:ext cx="164592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Distancia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72491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Mediada con encuentros periódicos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33756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429000"/>
            <a:ext cx="164592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5021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 academia y práctica empresarial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4206240"/>
            <a:ext cx="164592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51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2793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Combinación flexible de modalidades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Regional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Norte de Santander y zona de influencia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13716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Municipios PDET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554480"/>
            <a:ext cx="3931920" cy="13716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7373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4231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Rural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931920" cy="13716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832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ES Rural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3200400"/>
            <a:ext cx="3931920" cy="13716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33832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Brechas en Educación Superior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68580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280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cobertura en zonas rurales dispersas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6858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920240"/>
            <a:ext cx="73152" cy="68580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05740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57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concentrada en ciudades capitales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8229600" cy="6858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743200"/>
            <a:ext cx="73152" cy="68580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 de trayectorias educativas completas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8229600" cy="6858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566160"/>
            <a:ext cx="73152" cy="68580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programas profesionales en territorios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389120"/>
            <a:ext cx="73152" cy="68580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452628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526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Dificultades de acceso y permanencia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Capacidades Institucionales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Física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cupos en residencias estudiantiles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508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12064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capacidad en comedor institucional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697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2743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Laboratorios especializados modernos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46888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2697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120640" y="2743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 La Rinconada y Hacienda La Caldera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862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58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Energía solar en instalaciones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365760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0" y="38862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1206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Gestión ISO 9001:2015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Académica Vigente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programas activos con Registro Calificado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737360"/>
          </a:xfrm>
          <a:prstGeom prst="roundRect">
            <a:avLst/>
          </a:prstGeom>
          <a:solidFill>
            <a:srgbClr val="F8F9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Ciencias Administrativas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0" y="1417320"/>
            <a:ext cx="201168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463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Programas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05740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Empresarial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205740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Comunitaria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05740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Mercadeo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205740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665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737360"/>
          </a:xfrm>
          <a:prstGeom prst="roundRect">
            <a:avLst/>
          </a:prstGeom>
          <a:solidFill>
            <a:srgbClr val="F8F9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Ingenierías e Informática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0" y="3337560"/>
            <a:ext cx="2011680" cy="45720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383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Programas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97764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Agroindustria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0" y="397764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74320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Industrial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97764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397764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76656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Civiles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3977640"/>
            <a:ext cx="1828800" cy="73152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778240" y="4160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Agropecuaria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Trayectoria en Investigación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Investigación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09728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GICTIN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Categoría 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1371600"/>
            <a:ext cx="3840480" cy="109728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GIESD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1874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Categoría Reconocido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148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Ciencias Admin.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 Recientes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840480" cy="54864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10896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6 profesores clasificados MinCiencias 2024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3108960"/>
            <a:ext cx="3840480" cy="54864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310896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Proyecto SGR implementado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3840480" cy="54864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79476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Semilleros activos de investigación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3794760"/>
            <a:ext cx="3840480" cy="54864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0" y="379476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Eventos académicos nacionales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Extensión y Proyección Social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Prestadora de Servicios de Extensión Agropecuaria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8988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444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Habilitación EPSEA vigente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6712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945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2219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 técnica a productores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94436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718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9992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Consultoría y asesoría empresarial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72160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49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7764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Convenios con sector productivo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498848"/>
            <a:ext cx="411480" cy="411480"/>
          </a:xfrm>
          <a:prstGeom prst="ellipse">
            <a:avLst/>
          </a:prstGeom>
          <a:solidFill>
            <a:srgbClr val="1B9E8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5537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Articulación con SNIA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89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Articulación con ODS 2030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554480" cy="22860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 de Calidad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94560" y="1371600"/>
            <a:ext cx="1554480" cy="22860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194560" y="26517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Decente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31920" y="1371600"/>
            <a:ext cx="1554480" cy="22860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931920" y="26517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 de Desigualdades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1371600"/>
            <a:ext cx="1554480" cy="22860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5669280" y="26517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Ciudades Sostenibles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06640" y="1371600"/>
            <a:ext cx="1554480" cy="22860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15544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7406640" y="265176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 Responsable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Decreto 2038/2023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para Cambio de Carácter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25400" dist="127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447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Reglamentos actualizados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0" y="144475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Cumple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640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25400" dist="127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2199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 interacción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22219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Cumple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25400" dist="127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9992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Desarrollo vigente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0" y="299923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Cumple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25400" dist="127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7764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verificadas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377647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Cumple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8229600" cy="640080"/>
          </a:xfrm>
          <a:prstGeom prst="rect">
            <a:avLst/>
          </a:prstGeom>
          <a:solidFill>
            <a:srgbClr val="F8F9FA"/>
          </a:solidFill>
          <a:ln/>
          <a:effectLst>
            <a:outerShdw sx="100000" sy="100000" kx="0" ky="0" algn="bl" rotWithShape="0" blurRad="25400" dist="12700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455371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con RC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4553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11 activos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Gobierno Académico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77724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Consejo Directivo - Máxima autoridad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749808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7830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Consejo Académico - Autoridad académica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2468880"/>
            <a:ext cx="72237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4688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Rectoría - Dirección ejecutiva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80160" y="3154680"/>
            <a:ext cx="694944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280160" y="31546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1463040" y="3246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Vicerrectorías - Gestión misional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554480" y="3840480"/>
            <a:ext cx="66751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554480" y="38404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Facultades - Unidades académicas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828800" y="4526280"/>
            <a:ext cx="64008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0" y="4526280"/>
            <a:ext cx="73152" cy="54864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0" name="Text 18"/>
          <p:cNvSpPr/>
          <p:nvPr/>
        </p:nvSpPr>
        <p:spPr>
          <a:xfrm>
            <a:off x="201168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- Gestión operativa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Facultades Actuales y Proyectadas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Facultades Actuales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54864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Ciencias Administrativas y Sociales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8229600" cy="548640"/>
          </a:xfrm>
          <a:prstGeom prst="roundRect">
            <a:avLst/>
          </a:prstGeom>
          <a:solidFill>
            <a:srgbClr val="1B9E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Ingenierías e Informática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89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Facultades Proyectadas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8229600" cy="54864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Ciencias Básicas y Educación (proyectada)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de Oferta Académica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en trámite de Registro Calificado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54864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Ingeniería en Ciencia de Datos - Virtual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8229600" cy="54864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57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Trabajo Social y Comunitario - Virtual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548640"/>
          </a:xfrm>
          <a:prstGeom prst="roundRect">
            <a:avLst/>
          </a:prstGeom>
          <a:solidFill>
            <a:srgbClr val="5894E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43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Bioingeniería - Presencial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Áreas de Expansión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265176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069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Profesionales Universitarios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3931920"/>
            <a:ext cx="265176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Especializaciones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3931920"/>
            <a:ext cx="265176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9E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4069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Maestrías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89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Investigación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 de investigación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Bioeconomía y desarrollo sostenible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0" y="137160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Cadenas productivas agroindustriales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Transición energética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256032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Digitalización y tecnologías emergentes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Adaptación al cambio climático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74904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Desarrollo humano rural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Extensión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704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Académica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11887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 continuada, diplomados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8308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0" y="19659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 solidarios, desarrollo comunitario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56032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2491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Económica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Consultoría, asesoría, asistencia técnica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33756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021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Graduados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43200" y="35204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vinculación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4114800"/>
            <a:ext cx="73152" cy="64008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793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Internacional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743200" y="42976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Movilidad, convenios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589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de Experiencias y Organización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Coordinación de formación multimodal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411480" cy="411480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tecnológica y contenidos digitales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64008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58568"/>
            <a:ext cx="411480" cy="411480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860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3134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Acompañamiento pedagógico docente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64008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35808"/>
            <a:ext cx="411480" cy="411480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0632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30906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técnico-operativo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8229600" cy="64008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13048"/>
            <a:ext cx="411480" cy="411480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8404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8679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a bienestar digital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8229600" cy="64008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590288"/>
            <a:ext cx="411480" cy="411480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6177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6451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del ecosistema virtual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del Estudiante Iserista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Responsabilidad y autoconfianza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0" y="109728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325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Resolución de problemas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31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Habilidades comunicativas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10312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331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Uso competente de TIC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Pensamiento crítico y flexible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310896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310896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Trabajo en equipo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14600" y="4114800"/>
            <a:ext cx="393192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14600" y="4114800"/>
            <a:ext cx="73152" cy="82296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3" name="Text 21"/>
          <p:cNvSpPr/>
          <p:nvPr/>
        </p:nvSpPr>
        <p:spPr>
          <a:xfrm>
            <a:off x="26974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Iniciativa y creatividad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del Docente UniRural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Facilitador del aprendizaje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0" y="109728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Diseñador curricular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28600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Acompañante y orientador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228600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8600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Investigador y extensionista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7472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Actualización permanente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3474720"/>
            <a:ext cx="39319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3474720"/>
            <a:ext cx="73152" cy="914400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Compromiso con el desarrollo rural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Bienestar Institucional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integral y hábitos saludables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0" y="109728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Orientación educativa y tutorías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10312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Competencias para la vida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10312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377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Permanencia e inclusión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10896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Promoción socioeconómica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310896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0" y="310896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Artes y cultura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14600" y="4114800"/>
            <a:ext cx="3931920" cy="8229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2" name="Shape 20"/>
          <p:cNvSpPr/>
          <p:nvPr/>
        </p:nvSpPr>
        <p:spPr>
          <a:xfrm>
            <a:off x="2514600" y="4114800"/>
            <a:ext cx="3931920" cy="73152"/>
          </a:xfrm>
          <a:prstGeom prst="rect">
            <a:avLst/>
          </a:prstGeom>
          <a:solidFill>
            <a:srgbClr val="1B9E88"/>
          </a:solidFill>
          <a:ln/>
        </p:spPr>
      </p:sp>
      <p:sp>
        <p:nvSpPr>
          <p:cNvPr id="23" name="Text 21"/>
          <p:cNvSpPr/>
          <p:nvPr/>
        </p:nvSpPr>
        <p:spPr>
          <a:xfrm>
            <a:off x="269748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Bienestar social laboral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589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Internacionalización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00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Alianzas con instituciones globales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0" y="128016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1600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Movilidad académica entrante y saliente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Contenidos multiculturales en currículo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256032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Redes académicas internacionales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Diplomacia científica y cooperación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840480"/>
            <a:ext cx="3931920" cy="100584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4160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Recursos multilingües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Gestión y Calidad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417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Trabajo por procesos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0" y="109728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846320" y="1417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Ciclos de mejora continua (PHVA)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697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Toma de decisiones basada en datos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237744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2697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Gestión del conocimiento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9776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Sistema de calidad ISO 9001:2015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0" y="3657600"/>
            <a:ext cx="3931920" cy="1005840"/>
          </a:xfrm>
          <a:prstGeom prst="roundRect">
            <a:avLst/>
          </a:prstGeom>
          <a:solidFill>
            <a:srgbClr val="1B9E88"/>
          </a:solidFill>
          <a:ln/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39776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Transparencia y rendición de cuentas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Compromisos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704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70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2161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Acceso, permanencia y graduación con calidad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562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562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9019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Transparencia y rendición de cuentas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5420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42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587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de toda la comunidad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278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278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735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Equidad territorial y poblacional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9136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13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9593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Sostenibilidad ambiental y financiera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8229600" cy="54864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599432"/>
            <a:ext cx="402336" cy="402336"/>
          </a:xfrm>
          <a:prstGeom prst="ellipse">
            <a:avLst/>
          </a:prstGeom>
          <a:solidFill>
            <a:srgbClr val="FCBD0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599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9E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46451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integral para el desarrollo rural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 del Cambio de Carácter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143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oferta de programas profesionales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182880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Fortalecer capacidades de investigación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46888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032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560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2606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cobertura territorial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20040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29184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91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337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Avanzar hacia la acreditación de alta calidad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93192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402336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4069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programas de posgrado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4663440"/>
            <a:ext cx="8229600" cy="59436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663440"/>
            <a:ext cx="73152" cy="594360"/>
          </a:xfrm>
          <a:prstGeom prst="rect">
            <a:avLst/>
          </a:prstGeom>
          <a:solidFill>
            <a:srgbClr val="EB433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4754880"/>
            <a:ext cx="411480" cy="411480"/>
          </a:xfrm>
          <a:prstGeom prst="ellipse">
            <a:avLst/>
          </a:prstGeom>
          <a:solidFill>
            <a:srgbClr val="EB433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754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88720" y="4800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Fortalecer vinculación con egresados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589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2034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institución universitaria acreditada, incluyente y líder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Acreditación institucional de alta calidad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0" y="137160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Oferta ampliada de programas profesionales y posgrados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Presencia consolidada en 6+ departamentos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56032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Grupos de investigación categoría 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Alianzas internacionales estratégicas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749040"/>
            <a:ext cx="3931920" cy="914400"/>
          </a:xfrm>
          <a:prstGeom prst="roundRect">
            <a:avLst/>
          </a:prstGeom>
          <a:solidFill>
            <a:srgbClr val="6FA8F5">
              <a:alpha val="5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Referente nacional en educación rural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9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BD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años formando el campo colombiano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Hacia una institución universitaria de excelencia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7315200" cy="1371600"/>
          </a:xfrm>
          <a:prstGeom prst="roundRect">
            <a:avLst/>
          </a:prstGeom>
          <a:solidFill>
            <a:srgbClr val="2AAF98">
              <a:alpha val="30000"/>
            </a:srgbClr>
          </a:solidFill>
          <a:ln w="25400">
            <a:solidFill>
              <a:srgbClr val="FCBD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4688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"El desarrollo humano es el proceso de ampliación de las capacidades de las personas, ubicándolas en el centro con capacidad de agencia para transformarse y transformar su entorno."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Instituto Superior de Educación Rural - UniRural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vigilado Mineducación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🌱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Institución Universitaria de Educación Rural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Educativo Institucional - PEI</dc:title>
  <dc:subject>Cambio de Carácter Académico - Horizonte 2034</dc:subject>
  <dc:creator>ISER - UniRural</dc:creator>
  <cp:lastModifiedBy>ISER - UniRural</cp:lastModifiedBy>
  <cp:revision>1</cp:revision>
  <dcterms:created xsi:type="dcterms:W3CDTF">2025-12-15T13:30:57Z</dcterms:created>
  <dcterms:modified xsi:type="dcterms:W3CDTF">2025-12-15T13:30:57Z</dcterms:modified>
</cp:coreProperties>
</file>